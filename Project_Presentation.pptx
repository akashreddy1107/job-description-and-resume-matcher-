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2188952" cy="36576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48656"/>
            <a:ext cx="12188952" cy="54864"/>
          </a:xfrm>
          <a:prstGeom prst="rect">
            <a:avLst/>
          </a:prstGeom>
          <a:solidFill>
            <a:srgbClr val="0AF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91440"/>
            <a:ext cx="3200400" cy="3200400"/>
          </a:xfrm>
          <a:prstGeom prst="ellipse">
            <a:avLst/>
          </a:prstGeom>
          <a:solidFill>
            <a:srgbClr val="006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457200"/>
            <a:ext cx="2286000" cy="22860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74320"/>
            <a:ext cx="9144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743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 Light"/>
              </a:rPr>
              <a:t>RESUME ANALYZER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4D8"/>
                </a:solidFill>
                <a:latin typeface="Calibri"/>
              </a:rPr>
              <a:t>A Smart AI Tool to Read and Search Resumes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E5FF"/>
                </a:solidFill>
                <a:latin typeface="Calibri"/>
              </a:rPr>
              <a:t>for HR and Recruitment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3440"/>
            <a:ext cx="1188720" cy="347472"/>
          </a:xfrm>
          <a:prstGeom prst="rect">
            <a:avLst/>
          </a:prstGeom>
          <a:solidFill>
            <a:srgbClr val="014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6634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/>
              </a:rPr>
              <a:t>AI Powered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20" y="4663440"/>
            <a:ext cx="1188720" cy="347472"/>
          </a:xfrm>
          <a:prstGeom prst="rect">
            <a:avLst/>
          </a:prstGeom>
          <a:solidFill>
            <a:srgbClr val="014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46634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/>
              </a:rPr>
              <a:t>Smart 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4663440"/>
            <a:ext cx="1188720" cy="347472"/>
          </a:xfrm>
          <a:prstGeom prst="rect">
            <a:avLst/>
          </a:prstGeom>
          <a:solidFill>
            <a:srgbClr val="014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46634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/>
              </a:rPr>
              <a:t>Easy to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4663440"/>
            <a:ext cx="1188720" cy="347472"/>
          </a:xfrm>
          <a:prstGeom prst="rect">
            <a:avLst/>
          </a:prstGeom>
          <a:solidFill>
            <a:srgbClr val="014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6634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/>
              </a:rPr>
              <a:t>HR Tech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6688"/>
                </a:solidFill>
                <a:latin typeface="Calibri"/>
              </a:rPr>
              <a:t>Smart HR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2.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  <a:latin typeface="Calibri"/>
              </a:rPr>
              <a:t>Resume Analyzer AI is a state-of-the-art web application designed to significantly reduce the time HR professionals spend evaluating candidates.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Our smart AI platform helps recruiters save time. You can: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  <a:latin typeface="Calibri"/>
              </a:rPr>
              <a:t>  ▸  Upload many resumes at once and let the system read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  <a:latin typeface="Calibri"/>
              </a:rPr>
              <a:t>  ▸  Ask questions about candidates like you're chatting with a human.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  <a:latin typeface="Calibri"/>
              </a:rPr>
              <a:t>  ▸  Quickly find the best people for the job based on their skills and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2651760" cy="155448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029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F5CB"/>
                </a:solidFill>
                <a:latin typeface="Calibri"/>
              </a:rPr>
              <a:t>⏱  Fast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577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  <a:latin typeface="Calibri"/>
              </a:rPr>
              <a:t>Reads instantly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4937760"/>
            <a:ext cx="2651760" cy="155448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5029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F5CB"/>
                </a:solidFill>
                <a:latin typeface="Calibri"/>
              </a:rPr>
              <a:t>🔍  Smart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5577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  <a:latin typeface="Calibri"/>
              </a:rPr>
              <a:t>Understands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4937760"/>
            <a:ext cx="2651760" cy="155448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5029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F5CB"/>
                </a:solidFill>
                <a:latin typeface="Calibri"/>
              </a:rPr>
              <a:t>🔒  Private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577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  <a:latin typeface="Calibri"/>
              </a:rPr>
              <a:t>Your data is safe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4937760"/>
            <a:ext cx="2651760" cy="155448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5029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F5CB"/>
                </a:solidFill>
                <a:latin typeface="Calibri"/>
              </a:rPr>
              <a:t>🤖  AI-Powered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5577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  <a:latin typeface="Calibri"/>
              </a:rPr>
              <a:t>Smart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3. How It's Built (Simple View)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22860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73152" cy="228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🔐  Secure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  <a:latin typeface="Calibri"/>
              </a:rPr>
              <a:t>Keeps everything safe so only authorized HR managers can see the resumes.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00" cy="22860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73152" cy="2286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📄  Document Reader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  <a:latin typeface="Calibri"/>
              </a:rPr>
              <a:t>Opens PDFs and Word docs, reads the text, and remembers who it belongs 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5486400" cy="22860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73152" cy="2286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776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🧠  Smart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6177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  <a:latin typeface="Calibri"/>
              </a:rPr>
              <a:t>Stores knowledge in a way the AI can quickly search through to answer your questions.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5486400" cy="22860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73152" cy="2286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9776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🖥  Easy-to-use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177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  <a:latin typeface="Calibri"/>
              </a:rPr>
              <a:t>A friendly website that's simple to navigate and remembers what you're working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4. 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E5FF"/>
                </a:solidFill>
                <a:latin typeface="Calibri"/>
              </a:rPr>
              <a:t>How information flows from you to the AI and 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[Image could not be loaded]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AACC"/>
                </a:solidFill>
                <a:latin typeface="Calibri"/>
              </a:rPr>
              <a:t>A simple view of how the website talks to the Brain (AI) to get your answers.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5. System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E5FF"/>
                </a:solidFill>
                <a:latin typeface="Calibri"/>
              </a:rPr>
              <a:t>The main building blocks: System, Document Reader, Memory, and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[Image could not be loaded]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AACC"/>
                </a:solidFill>
                <a:latin typeface="Calibri"/>
              </a:rPr>
              <a:t>How different parts of the system work together to help you.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6. How You Use It (Step-by-Step)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E5FF"/>
                </a:solidFill>
                <a:latin typeface="Calibri"/>
              </a:rPr>
              <a:t>The typical flow from uploading a resume to getting an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[Image could not be loaded]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AACC"/>
                </a:solidFill>
                <a:latin typeface="Calibri"/>
              </a:rPr>
              <a:t>A visual guide of a typical task on the website.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7. What You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E5FF"/>
                </a:solidFill>
                <a:latin typeface="Calibri"/>
              </a:rPr>
              <a:t>The main features available to HR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[Image could not be loaded]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AACC"/>
                </a:solidFill>
                <a:latin typeface="Calibri"/>
              </a:rPr>
              <a:t>A quick look at the main actions you can perform on the platform.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8. How We Store Your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5FF"/>
                </a:solidFill>
                <a:latin typeface="Calibri"/>
              </a:rPr>
              <a:t>The platform saves your progress securely on the server so you can resume work anytime without losing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28800"/>
            <a:ext cx="37947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  Working Sessions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286000"/>
            <a:ext cx="3794760" cy="4572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3317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F5CB"/>
                </a:solidFill>
                <a:latin typeface="Calibri"/>
              </a:rPr>
              <a:t>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317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  <a:latin typeface="Calibri"/>
              </a:rPr>
              <a:t>Unique 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34056"/>
            <a:ext cx="379476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743200"/>
            <a:ext cx="3794760" cy="4572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7889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F5CB"/>
                </a:solidFill>
                <a:latin typeface="Calibri"/>
              </a:rPr>
              <a:t>hr_username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7889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  <a:latin typeface="Calibri"/>
              </a:rPr>
              <a:t>Who is logged 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191256"/>
            <a:ext cx="379476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200400"/>
            <a:ext cx="3794760" cy="4572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2461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F5CB"/>
                </a:solidFill>
                <a:latin typeface="Calibri"/>
              </a:rPr>
              <a:t>session_name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2461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  <a:latin typeface="Calibri"/>
              </a:rPr>
              <a:t>Chat name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48456"/>
            <a:ext cx="379476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57600"/>
            <a:ext cx="3794760" cy="4572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7033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F5CB"/>
                </a:solidFill>
                <a:latin typeface="Calibri"/>
              </a:rPr>
              <a:t>created_at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7033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  <a:latin typeface="Calibri"/>
              </a:rPr>
              <a:t>Date &amp;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05656"/>
            <a:ext cx="379476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1828800"/>
            <a:ext cx="37947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182880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  Saved Resumes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2286000"/>
            <a:ext cx="3794760" cy="4572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23317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F5CB"/>
                </a:solidFill>
                <a:latin typeface="Calibri"/>
              </a:rPr>
              <a:t>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23317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  <a:latin typeface="Calibri"/>
              </a:rPr>
              <a:t>Unique 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2734056"/>
            <a:ext cx="379476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2743200"/>
            <a:ext cx="3794760" cy="4572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27889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F5CB"/>
                </a:solidFill>
                <a:latin typeface="Calibri"/>
              </a:rPr>
              <a:t>session_id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27889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  <a:latin typeface="Calibri"/>
              </a:rPr>
              <a:t>Link to Session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3191256"/>
            <a:ext cx="379476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0" y="3200400"/>
            <a:ext cx="3794760" cy="4572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32461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F5CB"/>
                </a:solidFill>
                <a:latin typeface="Calibri"/>
              </a:rPr>
              <a:t>filename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32461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  <a:latin typeface="Calibri"/>
              </a:rPr>
              <a:t>Name of file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3648456"/>
            <a:ext cx="379476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89120" y="3657600"/>
            <a:ext cx="3794760" cy="4572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0" y="37033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F5CB"/>
                </a:solidFill>
                <a:latin typeface="Calibri"/>
              </a:rPr>
              <a:t>file_path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37033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  <a:latin typeface="Calibri"/>
              </a:rPr>
              <a:t>Where it is stored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4105656"/>
            <a:ext cx="379476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458200" y="1828800"/>
            <a:ext cx="37947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58200" y="182880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  Chat History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2286000"/>
            <a:ext cx="3794760" cy="4572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9640" y="23317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F5CB"/>
                </a:solidFill>
                <a:latin typeface="Calibri"/>
              </a:rPr>
              <a:t>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23317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  <a:latin typeface="Calibri"/>
              </a:rPr>
              <a:t>Unique ID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58200" y="2734056"/>
            <a:ext cx="379476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58200" y="2743200"/>
            <a:ext cx="3794760" cy="4572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49640" y="27889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F5CB"/>
                </a:solidFill>
                <a:latin typeface="Calibri"/>
              </a:rPr>
              <a:t>session_id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27889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  <a:latin typeface="Calibri"/>
              </a:rPr>
              <a:t>Link to Session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58200" y="3191256"/>
            <a:ext cx="379476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58200" y="3200400"/>
            <a:ext cx="3794760" cy="4572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49640" y="32461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F5CB"/>
                </a:solidFill>
                <a:latin typeface="Calibri"/>
              </a:rPr>
              <a:t>role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32461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  <a:latin typeface="Calibri"/>
              </a:rPr>
              <a:t>User or AI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58200" y="3648456"/>
            <a:ext cx="379476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58200" y="3657600"/>
            <a:ext cx="3794760" cy="4572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49640" y="37033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F5CB"/>
                </a:solidFill>
                <a:latin typeface="Calibri"/>
              </a:rPr>
              <a:t>content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0" y="37033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  <a:latin typeface="Calibri"/>
              </a:rPr>
              <a:t>Message Text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58200" y="4105656"/>
            <a:ext cx="379476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58200" y="4114800"/>
            <a:ext cx="3794760" cy="4572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49640" y="41605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F5CB"/>
                </a:solidFill>
                <a:latin typeface="Calibri"/>
              </a:rPr>
              <a:t>timestamp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75520" y="41605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  <a:latin typeface="Calibri"/>
              </a:rPr>
              <a:t>Date &amp; Time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58200" y="4562856"/>
            <a:ext cx="379476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60520" y="2834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  <a:latin typeface="Calibri"/>
              </a:rPr>
              <a:t>↑  Link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2834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  <a:latin typeface="Calibri"/>
              </a:rPr>
              <a:t>↑  Link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9. The Website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5FF"/>
                </a:solidFill>
                <a:latin typeface="Calibri"/>
              </a:rPr>
              <a:t>  ▸  Beautiful Design: Looks modern and professional, similar to your favorite top-tier apps.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848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5FF"/>
                </a:solidFill>
                <a:latin typeface="Calibri"/>
              </a:rPr>
              <a:t>  ▸  Smooth Experience: Drag and drop resumes and switch between modes without waiting for the page to reload.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0662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5FF"/>
                </a:solidFill>
                <a:latin typeface="Calibri"/>
              </a:rPr>
              <a:t>  ▸  Neat Text Formatting: Makes the answers from the AI easy to read with bullet points and bold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6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5FF"/>
                </a:solidFill>
                <a:latin typeface="Calibri"/>
              </a:rPr>
              <a:t>  ▸  Lightning Fast: Built to be incredibly quick when navigating the platform.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502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5FF"/>
                </a:solidFill>
                <a:latin typeface="Calibri"/>
              </a:rPr>
              <a:t>  ▸  Remembers Your Work: All your uploaded resumes and chat history are saved automatically.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10. Behind the Scenes (The Server)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5FF"/>
                </a:solidFill>
                <a:latin typeface="Calibri"/>
              </a:rPr>
              <a:t>  ▸  The Traffic Cop: Directs your clicks securely to the right places.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848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5FF"/>
                </a:solidFill>
                <a:latin typeface="Calibri"/>
              </a:rPr>
              <a:t>  ▸  File Reader: Easily opens and understands both PDF and Word document formats.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0662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5FF"/>
                </a:solidFill>
                <a:latin typeface="Calibri"/>
              </a:rPr>
              <a:t>  ▸  Data Separation: Keeps each HR user's uploaded resumes separate and secure.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6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5FF"/>
                </a:solidFill>
                <a:latin typeface="Calibri"/>
              </a:rPr>
              <a:t>  ▸  Reliable Storage: Saves important data so nothing gets lost if your computer shuts down.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502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5FF"/>
                </a:solidFill>
                <a:latin typeface="Calibri"/>
              </a:rPr>
              <a:t>  ▸  Strong Security: Ensures no one else can sneak into your private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11. How the Smart AI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5FF"/>
                </a:solidFill>
                <a:latin typeface="Calibri"/>
              </a:rPr>
              <a:t>Our AI is designed to be truthful: it looks for answers strictly within the resumes you uploaded, preventing 'made-up' facts.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20240"/>
            <a:ext cx="3749039" cy="438912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3749039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03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READING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  <a:latin typeface="Calibri"/>
              </a:rPr>
              <a:t>The system reads every uploaded resume carefully and organizes the details so it's easy to search later.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9" y="36576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749039" cy="438912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920240"/>
            <a:ext cx="3749039" cy="54864"/>
          </a:xfrm>
          <a:prstGeom prst="rect">
            <a:avLst/>
          </a:prstGeom>
          <a:solidFill>
            <a:srgbClr val="0AF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2057400"/>
            <a:ext cx="502920" cy="502920"/>
          </a:xfrm>
          <a:prstGeom prst="ellipse">
            <a:avLst/>
          </a:prstGeom>
          <a:solidFill>
            <a:srgbClr val="0AF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057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103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F5CB"/>
                </a:solidFill>
                <a:latin typeface="Calibri"/>
              </a:rPr>
              <a:t>SEARCHING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4320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  <a:latin typeface="Calibri"/>
              </a:rPr>
              <a:t>You ask a question like "Who knows Python?" – and the system quickly grabs only the resumes that match.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6576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920240"/>
            <a:ext cx="3749039" cy="438912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58200" y="1920240"/>
            <a:ext cx="3749039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95360" y="2057400"/>
            <a:ext cx="502920" cy="50292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2057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103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  <a:latin typeface="Calibri"/>
              </a:rPr>
              <a:t>ANSWERING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74320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5FF"/>
                </a:solidFill>
                <a:latin typeface="Calibri"/>
              </a:rPr>
              <a:t>The AI looks at the matches and gives you a simple, direct answer, and tells you exactly which resume it got it from.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12. Technology We Use (Simplified)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82296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556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Website / Look &amp; Feel (HTML, CSS, JavaScript)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303520" cy="82296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Backend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556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Server / Traffic Controller (Python, Flask)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5303520" cy="82296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157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Secure Saving (SQLite)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331720"/>
            <a:ext cx="5303520" cy="82296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NLP / 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157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AI Smart Search (sentence-transformers)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5303520" cy="82296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LLM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675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Answering Engine (HuggingFace AI)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291840"/>
            <a:ext cx="5303520" cy="82296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Doc 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675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PDF and Word Readers (PyPDF2, python-docx)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13. Why This Platform Helps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5486400" cy="164592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54864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⏱  Saves You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Instead of reading dozens of resumes manually, the system does it for you instantly.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80160"/>
            <a:ext cx="5486400" cy="164592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486400" cy="45720"/>
          </a:xfrm>
          <a:prstGeom prst="rect">
            <a:avLst/>
          </a:prstGeom>
          <a:solidFill>
            <a:srgbClr val="0AF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F5CB"/>
                </a:solidFill>
                <a:latin typeface="Calibri"/>
              </a:rPr>
              <a:t>🎯  Fair Choice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Focuses purely on the candidate's actual skills listed in their resume, removing biases.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00400"/>
            <a:ext cx="5486400" cy="164592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200400"/>
            <a:ext cx="5486400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Calibri"/>
              </a:rPr>
              <a:t>🔒  Keeps Data Safe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Your resumes are safe and locked down so only you can see your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200400"/>
            <a:ext cx="5486400" cy="164592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200400"/>
            <a:ext cx="548640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918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  <a:latin typeface="Calibri"/>
              </a:rPr>
              <a:t>💾  Pick Up Later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4048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You can log off, and when you return, all your resumes and chats will still be there.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5120640"/>
            <a:ext cx="5486400" cy="164592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5120640"/>
            <a:ext cx="54864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52120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  <a:latin typeface="Calibri"/>
              </a:rPr>
              <a:t>✨  Easy and Beautiful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7607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It is fast, responsive, and as simple to use as your favorite modern apps.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14. A Look at the Website: Main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E5FF"/>
                </a:solidFill>
                <a:latin typeface="Calibri"/>
              </a:rPr>
              <a:t>Clear options to look at one resume, many resumes, or see your past work.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1329690"/>
            <a:ext cx="10972800" cy="47472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AACC"/>
                </a:solidFill>
                <a:latin typeface="Calibri"/>
              </a:rPr>
              <a:t>A modern and clean screen that greets you when you log 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15. A Look at the Website: Asking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E5FF"/>
                </a:solidFill>
                <a:latin typeface="Calibri"/>
              </a:rPr>
              <a:t>Chatting with the AI to get answers from the uploaded resumes.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430" y="1188720"/>
            <a:ext cx="8626091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AACC"/>
                </a:solidFill>
                <a:latin typeface="Calibri"/>
              </a:rPr>
              <a:t>The AI gives easy-to-read answers and clearly shows which file it read.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16. A Look at the Website: Finding the Best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E5FF"/>
                </a:solidFill>
                <a:latin typeface="Calibri"/>
              </a:rPr>
              <a:t>Easily filter candidates by specific skills and years of experience.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430" y="1188720"/>
            <a:ext cx="8626091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AACC"/>
                </a:solidFill>
                <a:latin typeface="Calibri"/>
              </a:rPr>
              <a:t>Use simple controls to narrow down exactly who you are looking for.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26280"/>
            <a:ext cx="12188952" cy="45720"/>
          </a:xfrm>
          <a:prstGeom prst="rect">
            <a:avLst/>
          </a:prstGeom>
          <a:solidFill>
            <a:srgbClr val="0AF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46888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FF"/>
                </a:solidFill>
                <a:latin typeface="Calibri"/>
              </a:rPr>
              <a:t>HR Assistant — Making Recruitment Easier with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937760"/>
            <a:ext cx="1463040" cy="365760"/>
          </a:xfrm>
          <a:prstGeom prst="rect">
            <a:avLst/>
          </a:prstGeom>
          <a:solidFill>
            <a:srgbClr val="014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Smart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4937760"/>
            <a:ext cx="1463040" cy="365760"/>
          </a:xfrm>
          <a:prstGeom prst="rect">
            <a:avLst/>
          </a:prstGeom>
          <a:solidFill>
            <a:srgbClr val="014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Fast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4937760"/>
            <a:ext cx="1463040" cy="365760"/>
          </a:xfrm>
          <a:prstGeom prst="rect">
            <a:avLst/>
          </a:prstGeom>
          <a:solidFill>
            <a:srgbClr val="014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Secure Saving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4937760"/>
            <a:ext cx="1463040" cy="365760"/>
          </a:xfrm>
          <a:prstGeom prst="rect">
            <a:avLst/>
          </a:prstGeom>
          <a:solidFill>
            <a:srgbClr val="014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Easy 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4937760"/>
            <a:ext cx="1463040" cy="365760"/>
          </a:xfrm>
          <a:prstGeom prst="rect">
            <a:avLst/>
          </a:prstGeom>
          <a:solidFill>
            <a:srgbClr val="014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Automated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72600" y="4937760"/>
            <a:ext cx="1463040" cy="365760"/>
          </a:xfrm>
          <a:prstGeom prst="rect">
            <a:avLst/>
          </a:prstGeom>
          <a:solidFill>
            <a:srgbClr val="014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HR 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